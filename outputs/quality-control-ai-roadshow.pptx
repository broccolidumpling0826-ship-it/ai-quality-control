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af4e74e184eca" /><Relationship Type="http://schemas.openxmlformats.org/officeDocument/2006/relationships/extended-properties" Target="/docProps/app.xml" Id="R9d575cb02da641d8" /><Relationship Type="http://schemas.openxmlformats.org/officeDocument/2006/relationships/officeDocument" Target="/ppt/presentation.xml" Id="Rc90725020bb64c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65f538435b488a"/>
  </p:sldMasterIdLst>
  <p:notesMasterIdLst>
    <p:notesMasterId xmlns:r="http://schemas.openxmlformats.org/officeDocument/2006/relationships" r:id="R53295873005a4962"/>
  </p:notesMasterIdLst>
  <p:sldIdLst>
    <p:sldId xmlns:r="http://schemas.openxmlformats.org/officeDocument/2006/relationships" id="256" r:id="Rdbe01f99893d4c44"/>
    <p:sldId xmlns:r="http://schemas.openxmlformats.org/officeDocument/2006/relationships" id="257" r:id="Re221b6258e054fe8"/>
    <p:sldId xmlns:r="http://schemas.openxmlformats.org/officeDocument/2006/relationships" id="258" r:id="R6db2d6219a7a419b"/>
    <p:sldId xmlns:r="http://schemas.openxmlformats.org/officeDocument/2006/relationships" id="259" r:id="Rdb4062cc592243b8"/>
    <p:sldId xmlns:r="http://schemas.openxmlformats.org/officeDocument/2006/relationships" id="260" r:id="R0baeeaf75ebe48df"/>
    <p:sldId xmlns:r="http://schemas.openxmlformats.org/officeDocument/2006/relationships" id="261" r:id="R9807534a73f0475c"/>
    <p:sldId xmlns:r="http://schemas.openxmlformats.org/officeDocument/2006/relationships" id="262" r:id="R47a06fefe5c944aa"/>
    <p:sldId xmlns:r="http://schemas.openxmlformats.org/officeDocument/2006/relationships" id="263" r:id="Rd461a317916a44f8"/>
    <p:sldId xmlns:r="http://schemas.openxmlformats.org/officeDocument/2006/relationships" id="264" r:id="R9872458d26204a69"/>
    <p:sldId xmlns:r="http://schemas.openxmlformats.org/officeDocument/2006/relationships" id="265" r:id="R5c2a8a6c370745a1"/>
    <p:sldId xmlns:r="http://schemas.openxmlformats.org/officeDocument/2006/relationships" id="266" r:id="Rbee244d02ff445d3"/>
    <p:sldId xmlns:r="http://schemas.openxmlformats.org/officeDocument/2006/relationships" id="267" r:id="Rfb286786a0734fba"/>
    <p:sldId xmlns:r="http://schemas.openxmlformats.org/officeDocument/2006/relationships" id="268" r:id="Rb16925fbbc8b4aef"/>
    <p:sldId xmlns:r="http://schemas.openxmlformats.org/officeDocument/2006/relationships" id="269" r:id="Rf8052323d9164b1e"/>
    <p:sldId xmlns:r="http://schemas.openxmlformats.org/officeDocument/2006/relationships" id="270" r:id="R4c81057a54cd47f7"/>
    <p:sldId xmlns:r="http://schemas.openxmlformats.org/officeDocument/2006/relationships" id="271" r:id="R9dcb75a8ab2f426c"/>
    <p:sldId xmlns:r="http://schemas.openxmlformats.org/officeDocument/2006/relationships" id="272" r:id="Re04c34e7d3494d86"/>
    <p:sldId xmlns:r="http://schemas.openxmlformats.org/officeDocument/2006/relationships" id="273" r:id="Rbab0bcd77d234440"/>
    <p:sldId xmlns:r="http://schemas.openxmlformats.org/officeDocument/2006/relationships" id="274" r:id="Ra9e3bfe2c8e24e26"/>
    <p:sldId xmlns:r="http://schemas.openxmlformats.org/officeDocument/2006/relationships" id="275" r:id="R229a1baaeca64619"/>
    <p:sldId xmlns:r="http://schemas.openxmlformats.org/officeDocument/2006/relationships" id="276" r:id="R71abbd6863cf4eaf"/>
    <p:sldId xmlns:r="http://schemas.openxmlformats.org/officeDocument/2006/relationships" id="277" r:id="R5e2f410916854038"/>
    <p:sldId xmlns:r="http://schemas.openxmlformats.org/officeDocument/2006/relationships" id="278" r:id="R39724ec3c50645ba"/>
    <p:sldId xmlns:r="http://schemas.openxmlformats.org/officeDocument/2006/relationships" id="279" r:id="R8405e64eff674b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512d5ff538432c" /><Relationship Type="http://schemas.openxmlformats.org/officeDocument/2006/relationships/slideMaster" Target="/ppt/slideMasters/slideMaster1.xml" Id="Rea65f538435b488a" /><Relationship Type="http://schemas.openxmlformats.org/officeDocument/2006/relationships/notesMaster" Target="/ppt/notesMasters/notesMaster1.xml" Id="R53295873005a4962" /><Relationship Type="http://schemas.openxmlformats.org/officeDocument/2006/relationships/presProps" Target="/ppt/presProps.xml" Id="R994559a7902c4165" /><Relationship Type="http://schemas.openxmlformats.org/officeDocument/2006/relationships/tableStyles" Target="/ppt/tableStyles.xml" Id="R756ba27472e14ae3" /><Relationship Type="http://schemas.openxmlformats.org/officeDocument/2006/relationships/slide" Target="/ppt/slides/slide1.xml" Id="Rdbe01f99893d4c44" /><Relationship Type="http://schemas.openxmlformats.org/officeDocument/2006/relationships/slide" Target="/ppt/slides/slide2.xml" Id="Re221b6258e054fe8" /><Relationship Type="http://schemas.openxmlformats.org/officeDocument/2006/relationships/slide" Target="/ppt/slides/slide3.xml" Id="R6db2d6219a7a419b" /><Relationship Type="http://schemas.openxmlformats.org/officeDocument/2006/relationships/slide" Target="/ppt/slides/slide4.xml" Id="Rdb4062cc592243b8" /><Relationship Type="http://schemas.openxmlformats.org/officeDocument/2006/relationships/slide" Target="/ppt/slides/slide5.xml" Id="R0baeeaf75ebe48df" /><Relationship Type="http://schemas.openxmlformats.org/officeDocument/2006/relationships/slide" Target="/ppt/slides/slide6.xml" Id="R9807534a73f0475c" /><Relationship Type="http://schemas.openxmlformats.org/officeDocument/2006/relationships/slide" Target="/ppt/slides/slide7.xml" Id="R47a06fefe5c944aa" /><Relationship Type="http://schemas.openxmlformats.org/officeDocument/2006/relationships/slide" Target="/ppt/slides/slide8.xml" Id="Rd461a317916a44f8" /><Relationship Type="http://schemas.openxmlformats.org/officeDocument/2006/relationships/slide" Target="/ppt/slides/slide9.xml" Id="R9872458d26204a69" /><Relationship Type="http://schemas.openxmlformats.org/officeDocument/2006/relationships/slide" Target="/ppt/slides/slide10.xml" Id="R5c2a8a6c370745a1" /><Relationship Type="http://schemas.openxmlformats.org/officeDocument/2006/relationships/slide" Target="/ppt/slides/slide11.xml" Id="Rbee244d02ff445d3" /><Relationship Type="http://schemas.openxmlformats.org/officeDocument/2006/relationships/slide" Target="/ppt/slides/slide12.xml" Id="Rfb286786a0734fba" /><Relationship Type="http://schemas.openxmlformats.org/officeDocument/2006/relationships/slide" Target="/ppt/slides/slide13.xml" Id="Rb16925fbbc8b4aef" /><Relationship Type="http://schemas.openxmlformats.org/officeDocument/2006/relationships/slide" Target="/ppt/slides/slide14.xml" Id="Rf8052323d9164b1e" /><Relationship Type="http://schemas.openxmlformats.org/officeDocument/2006/relationships/slide" Target="/ppt/slides/slide15.xml" Id="R4c81057a54cd47f7" /><Relationship Type="http://schemas.openxmlformats.org/officeDocument/2006/relationships/slide" Target="/ppt/slides/slide16.xml" Id="R9dcb75a8ab2f426c" /><Relationship Type="http://schemas.openxmlformats.org/officeDocument/2006/relationships/slide" Target="/ppt/slides/slide17.xml" Id="Re04c34e7d3494d86" /><Relationship Type="http://schemas.openxmlformats.org/officeDocument/2006/relationships/slide" Target="/ppt/slides/slide18.xml" Id="Rbab0bcd77d234440" /><Relationship Type="http://schemas.openxmlformats.org/officeDocument/2006/relationships/slide" Target="/ppt/slides/slide19.xml" Id="Ra9e3bfe2c8e24e26" /><Relationship Type="http://schemas.openxmlformats.org/officeDocument/2006/relationships/slide" Target="/ppt/slides/slide20.xml" Id="R229a1baaeca64619" /><Relationship Type="http://schemas.openxmlformats.org/officeDocument/2006/relationships/slide" Target="/ppt/slides/slide21.xml" Id="R71abbd6863cf4eaf" /><Relationship Type="http://schemas.openxmlformats.org/officeDocument/2006/relationships/slide" Target="/ppt/slides/slide22.xml" Id="R5e2f410916854038" /><Relationship Type="http://schemas.openxmlformats.org/officeDocument/2006/relationships/slide" Target="/ppt/slides/slide23.xml" Id="R39724ec3c50645ba" /><Relationship Type="http://schemas.openxmlformats.org/officeDocument/2006/relationships/slide" Target="/ppt/slides/slide24.xml" Id="R8405e64eff67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fbb1114e3a4a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6d3727e4b4c0a" /><Relationship Type="http://schemas.openxmlformats.org/officeDocument/2006/relationships/notesMaster" Target="/ppt/notesMasters/notesMaster1.xml" Id="R52fbf6cdf9074e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ade3e4ec554d1c" /><Relationship Type="http://schemas.openxmlformats.org/officeDocument/2006/relationships/notesMaster" Target="/ppt/notesMasters/notesMaster1.xml" Id="R119d81a9c53a4d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627e09009742b6" /><Relationship Type="http://schemas.openxmlformats.org/officeDocument/2006/relationships/notesMaster" Target="/ppt/notesMasters/notesMaster1.xml" Id="Rbe361921c30d4f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8b2b2a9a6d4109" /><Relationship Type="http://schemas.openxmlformats.org/officeDocument/2006/relationships/notesMaster" Target="/ppt/notesMasters/notesMaster1.xml" Id="Re467c294f7af4a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5df082d9ac4222" /><Relationship Type="http://schemas.openxmlformats.org/officeDocument/2006/relationships/notesMaster" Target="/ppt/notesMasters/notesMaster1.xml" Id="Rccd810842ec54a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18fe61b42a4dde" /><Relationship Type="http://schemas.openxmlformats.org/officeDocument/2006/relationships/notesMaster" Target="/ppt/notesMasters/notesMaster1.xml" Id="R89f91dd4d96749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6d17034bc4acd" /><Relationship Type="http://schemas.openxmlformats.org/officeDocument/2006/relationships/notesMaster" Target="/ppt/notesMasters/notesMaster1.xml" Id="R8b6b705eb81c4c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365847af124a7a" /><Relationship Type="http://schemas.openxmlformats.org/officeDocument/2006/relationships/notesMaster" Target="/ppt/notesMasters/notesMaster1.xml" Id="Rd649cbc851f143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c4b333be344412" /><Relationship Type="http://schemas.openxmlformats.org/officeDocument/2006/relationships/notesMaster" Target="/ppt/notesMasters/notesMaster1.xml" Id="Rd49d8caf87db43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aab9ffaacb486d" /><Relationship Type="http://schemas.openxmlformats.org/officeDocument/2006/relationships/notesMaster" Target="/ppt/notesMasters/notesMaster1.xml" Id="Rdd9e2fab77bb46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4f77c26da347c2" /><Relationship Type="http://schemas.openxmlformats.org/officeDocument/2006/relationships/notesMaster" Target="/ppt/notesMasters/notesMaster1.xml" Id="Rbd09090890ad42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dd2a361d374b1b" /><Relationship Type="http://schemas.openxmlformats.org/officeDocument/2006/relationships/notesMaster" Target="/ppt/notesMasters/notesMaster1.xml" Id="Ra9fee298091a4b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16606cb43441fe" /><Relationship Type="http://schemas.openxmlformats.org/officeDocument/2006/relationships/notesMaster" Target="/ppt/notesMasters/notesMaster1.xml" Id="R481aa7a2b11840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5261a3cc7d4662" /><Relationship Type="http://schemas.openxmlformats.org/officeDocument/2006/relationships/notesMaster" Target="/ppt/notesMasters/notesMaster1.xml" Id="R6083ab2e013743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6a7cc6ccd14f74" /><Relationship Type="http://schemas.openxmlformats.org/officeDocument/2006/relationships/notesMaster" Target="/ppt/notesMasters/notesMaster1.xml" Id="Rc22c968232fb47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2d69089350439a" /><Relationship Type="http://schemas.openxmlformats.org/officeDocument/2006/relationships/notesMaster" Target="/ppt/notesMasters/notesMaster1.xml" Id="R69b729201f764e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cefd6d37ee4fed" /><Relationship Type="http://schemas.openxmlformats.org/officeDocument/2006/relationships/notesMaster" Target="/ppt/notesMasters/notesMaster1.xml" Id="Rfab402bd548445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b7ee62af2c42d7" /><Relationship Type="http://schemas.openxmlformats.org/officeDocument/2006/relationships/notesMaster" Target="/ppt/notesMasters/notesMaster1.xml" Id="Rb200ee53394148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9cca877c2043d0" /><Relationship Type="http://schemas.openxmlformats.org/officeDocument/2006/relationships/notesMaster" Target="/ppt/notesMasters/notesMaster1.xml" Id="R4dfacd74013c4d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0d462a30544a2f" /><Relationship Type="http://schemas.openxmlformats.org/officeDocument/2006/relationships/notesMaster" Target="/ppt/notesMasters/notesMaster1.xml" Id="Reedfd5cb7d8a44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129045d7a947c4" /><Relationship Type="http://schemas.openxmlformats.org/officeDocument/2006/relationships/notesMaster" Target="/ppt/notesMasters/notesMaster1.xml" Id="Rda99f4ab021644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d464e15e62428a" /><Relationship Type="http://schemas.openxmlformats.org/officeDocument/2006/relationships/notesMaster" Target="/ppt/notesMasters/notesMaster1.xml" Id="Rd41b8c3b8c2145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1bbea5f4dc84595" /><Relationship Type="http://schemas.openxmlformats.org/officeDocument/2006/relationships/notesMaster" Target="/ppt/notesMasters/notesMaster1.xml" Id="Rb077a37ecf834e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8e59ab0cca4a96" /><Relationship Type="http://schemas.openxmlformats.org/officeDocument/2006/relationships/notesMaster" Target="/ppt/notesMasters/notesMaster1.xml" Id="R2acb7c2e134f47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开场先强调这不是一个空壳 AI Demo。</a:t>
            </a:r>
          </a:p>
          <a:p xmlns:a="http://schemas.openxmlformats.org/drawingml/2006/main">
            <a:r>
              <a:t>系统主线是钢铁质量业务闭环，AI 是增强层，不替代规则引擎和人工审批。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这一页对应需求文档里的评分表。</a:t>
            </a:r>
          </a:p>
          <a:p xmlns:a="http://schemas.openxmlformats.org/drawingml/2006/main">
            <a:r>
              <a:t>讲法采用自顶向下：先业务角色和闭环，再 AI 场景，再技术与运营。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业务痛点不要先讲模型，而是讲标准、解释和评审效率。</a:t>
            </a:r>
          </a:p>
          <a:p xmlns:a="http://schemas.openxmlformats.org/drawingml/2006/main">
            <a:r>
              <a:t>这三个痛点分别对应 RAG、判定解释和异常处置 AI 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强调红线：AI 不直接改判、不审批、不创建流程记录。</a:t>
            </a:r>
          </a:p>
          <a:p xmlns:a="http://schemas.openxmlformats.org/drawingml/2006/main">
            <a:r>
              <a:t>这是赛题里最容易被追问的合规边界。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这一页直接回应评分维度中的传统业务流程闭环。</a:t>
            </a:r>
          </a:p>
          <a:p xmlns:a="http://schemas.openxmlformats.org/drawingml/2006/main">
            <a:r>
              <a:t>AI 不可用时，规则判定、审批、质保书状态门禁仍然可用。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模块全景来自参考材料和 OpenSpec specs。</a:t>
            </a:r>
          </a:p>
          <a:p xmlns:a="http://schemas.openxmlformats.org/drawingml/2006/main">
            <a:r>
              <a:t>注意把 AI 放到模块旁边讲，避免给人一种独立 Chatbot 的印象。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这一页进入 AI 能力展示。</a:t>
            </a:r>
          </a:p>
          <a:p xmlns:a="http://schemas.openxmlformats.org/drawingml/2006/main">
            <a:r>
              <a:t>每个场景都要强调和业务对象的绑定关系：标准、判定、让步、质保书。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讲清楚两条链：入库索引链和检索问答链。</a:t>
            </a:r>
          </a:p>
          <a:p xmlns:a="http://schemas.openxmlformats.org/drawingml/2006/main">
            <a:r>
              <a:t>对图片 OCR 要强调参考证据属性，不覆盖结构化指标。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这里可以现场展示标准 RAG 页面。</a:t>
            </a:r>
          </a:p>
          <a:p xmlns:a="http://schemas.openxmlformats.org/drawingml/2006/main">
            <a:r>
              <a:t>重点不是模型回答多自然，而是回答带来源、能拒答、能防 prompt 注入。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判定解释页是多个 AI 场景的输入底座。</a:t>
            </a:r>
          </a:p>
          <a:p xmlns:a="http://schemas.openxmlformats.org/drawingml/2006/main">
            <a:r>
              <a:t>复检/改判建议会读取解释快照里的置信度、引用和冲突信息。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置信度不是模型自评，而是引用命中、无冲突、输出校验通过。</a:t>
            </a:r>
          </a:p>
          <a:p xmlns:a="http://schemas.openxmlformats.org/drawingml/2006/main">
            <a:r>
              <a:t>引用校验本质是在防止模型编造标准、限值和条款。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这页要打消评委对自动误操作的担心。</a:t>
            </a:r>
          </a:p>
          <a:p xmlns:a="http://schemas.openxmlformats.org/drawingml/2006/main">
            <a:r>
              <a:t>当前复检/改判建议是规则模板，不是让模型自由推理。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让步是高风险场景，所以必须突出规则先行和人工双签。</a:t>
            </a:r>
          </a:p>
          <a:p xmlns:a="http://schemas.openxmlformats.org/drawingml/2006/main">
            <a:r>
              <a:t>模型不能改变风险等级，也不能新增审批结论。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这一页展示系统对标准冲突的强约束。</a:t>
            </a:r>
          </a:p>
          <a:p xmlns:a="http://schemas.openxmlformats.org/drawingml/2006/main">
            <a:r>
              <a:t>人工裁决后是规则重判，不是人工改判，也不是 AI 改判。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质保书是业务闭环的输出端，也是 AI 问答的场景。</a:t>
            </a:r>
          </a:p>
          <a:p xmlns:a="http://schemas.openxmlformats.org/drawingml/2006/main">
            <a:r>
              <a:t>讲清楚正式件和预览件的差别。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只讲抽象和调用路径，不展示任何 API key 或敏感配置。</a:t>
            </a:r>
          </a:p>
          <a:p xmlns:a="http://schemas.openxmlformats.org/drawingml/2006/main">
            <a:r>
              <a:t>RAG 入库会调用 embed 和 vector index；问答会先检索再 chat。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这里使用代码核对结果：项目已实现 ai-prompts 资源目录和 PromptRegistry。</a:t>
            </a:r>
          </a:p>
          <a:p xmlns:a="http://schemas.openxmlformats.org/drawingml/2006/main">
            <a:r>
              <a:t>如果评委问 Prompt 怎么改，可以讲 manifest activeVersion 和测试流程。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置信度不改变判定结论，只评价 AI 输出能不能放心采信。</a:t>
            </a:r>
          </a:p>
          <a:p xmlns:a="http://schemas.openxmlformats.org/drawingml/2006/main">
            <a:r>
              <a:t>当前 OpenSpec 设计了权重公式，代码中也有配置页；具体场景仍保持确定性门禁。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这一页直接回应评分维度“AI 调用链与可观测性”。</a:t>
            </a:r>
          </a:p>
          <a:p xmlns:a="http://schemas.openxmlformats.org/drawingml/2006/main">
            <a:r>
              <a:t>可以配合 AI 评估审计页面现场展示。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技术选型要和业务约束绑定：Java/MySQL 适合现有企业环境，ES 支撑 RAG。</a:t>
            </a:r>
          </a:p>
          <a:p xmlns:a="http://schemas.openxmlformats.org/drawingml/2006/main">
            <a:r>
              <a:t>模型不是写死的，网关层保障未来可替换。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 AI 辅助开发过程和使用的 skill。</a:t>
            </a:r>
          </a:p>
          <a:p xmlns:a="http://schemas.openxmlformats.org/drawingml/2006/main">
            <a:r>
              <a:t>可提到 grill-me、web-access、frontend-design、自定义模拟标准生成 skill 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验证数据来自参考材料和 OpenSpec demo-evaluation-dataset。</a:t>
            </a:r>
          </a:p>
          <a:p xmlns:a="http://schemas.openxmlformats.org/drawingml/2006/main">
            <a:r>
              <a:t>展示方向是数据覆盖、模块 API、自动化测试和人工演示，而不是只看单次模型回答。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成本部分要坦诚，尤其是模型、ES、OCR 和人工复核成本。</a:t>
            </a:r>
          </a:p>
          <a:p xmlns:a="http://schemas.openxmlformats.org/drawingml/2006/main">
            <a:r>
              <a:t>推广路径强调分阶段，不一次性把所有决策交给 AI。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收尾时回到一句话：标准库定规则、判定引擎出结论、AI 做可信辅助。</a:t>
            </a:r>
          </a:p>
          <a:p xmlns:a="http://schemas.openxmlformats.org/drawingml/2006/main">
            <a:r>
              <a:t>不足要主动说明，体现工程真实度。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d9e0d08a54b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a86645316943a4" /><Relationship Type="http://schemas.openxmlformats.org/officeDocument/2006/relationships/slideLayout" Target="/ppt/slideLayouts/slideLayout1.xml" Id="Rf0433abd170c4b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433abd170c4b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da065cf8543a0" /><Relationship Type="http://schemas.openxmlformats.org/officeDocument/2006/relationships/notesSlide" Target="/ppt/notesSlides/notesSlide1.xml" Id="R5b8d0cfcfc4242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03acfeab3407f" /><Relationship Type="http://schemas.openxmlformats.org/officeDocument/2006/relationships/notesSlide" Target="/ppt/notesSlides/notesSlide2.xml" Id="R694c655665dd4c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9227287d049de" /><Relationship Type="http://schemas.openxmlformats.org/officeDocument/2006/relationships/notesSlide" Target="/ppt/notesSlides/notesSlide3.xml" Id="Ra8f7418586724a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d55e7e95c4aca" /><Relationship Type="http://schemas.openxmlformats.org/officeDocument/2006/relationships/notesSlide" Target="/ppt/notesSlides/notesSlide4.xml" Id="R50be8f39cbba42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7b1e692b34021" /><Relationship Type="http://schemas.openxmlformats.org/officeDocument/2006/relationships/notesSlide" Target="/ppt/notesSlides/notesSlide5.xml" Id="Rec27c01c55904c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a6e7472d049eb" /><Relationship Type="http://schemas.openxmlformats.org/officeDocument/2006/relationships/notesSlide" Target="/ppt/notesSlides/notesSlide6.xml" Id="R64334863d12a46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f7721001a41ea" /><Relationship Type="http://schemas.openxmlformats.org/officeDocument/2006/relationships/notesSlide" Target="/ppt/notesSlides/notesSlide7.xml" Id="R163a7628780a44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4ad96a4494eff" /><Relationship Type="http://schemas.openxmlformats.org/officeDocument/2006/relationships/notesSlide" Target="/ppt/notesSlides/notesSlide8.xml" Id="Rb5adc3212f8549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5c3b8d1e34eef" /><Relationship Type="http://schemas.openxmlformats.org/officeDocument/2006/relationships/notesSlide" Target="/ppt/notesSlides/notesSlide9.xml" Id="R2b8b7a90b78c47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e36bfaae54a69" /><Relationship Type="http://schemas.openxmlformats.org/officeDocument/2006/relationships/notesSlide" Target="/ppt/notesSlides/notesSlide10.xml" Id="Rd366300731b04d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2d8fa50164c9c" /><Relationship Type="http://schemas.openxmlformats.org/officeDocument/2006/relationships/notesSlide" Target="/ppt/notesSlides/notesSlide11.xml" Id="Recc02b22cc2442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a6e666d694334" /><Relationship Type="http://schemas.openxmlformats.org/officeDocument/2006/relationships/notesSlide" Target="/ppt/notesSlides/notesSlide12.xml" Id="Rb659b3b1c07a49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8727d03814896" /><Relationship Type="http://schemas.openxmlformats.org/officeDocument/2006/relationships/notesSlide" Target="/ppt/notesSlides/notesSlide13.xml" Id="R541faf620a7441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1876f0fe64690" /><Relationship Type="http://schemas.openxmlformats.org/officeDocument/2006/relationships/notesSlide" Target="/ppt/notesSlides/notesSlide14.xml" Id="Rcc0787e2c94348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0a698006b41d0" /><Relationship Type="http://schemas.openxmlformats.org/officeDocument/2006/relationships/notesSlide" Target="/ppt/notesSlides/notesSlide15.xml" Id="R3878b4f73f4e4c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88eda243443b8" /><Relationship Type="http://schemas.openxmlformats.org/officeDocument/2006/relationships/notesSlide" Target="/ppt/notesSlides/notesSlide16.xml" Id="R466bec1ab8d14d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a5a786c40414c" /><Relationship Type="http://schemas.openxmlformats.org/officeDocument/2006/relationships/notesSlide" Target="/ppt/notesSlides/notesSlide17.xml" Id="R4afdba70db8b48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fdc1fb0ed4270" /><Relationship Type="http://schemas.openxmlformats.org/officeDocument/2006/relationships/notesSlide" Target="/ppt/notesSlides/notesSlide18.xml" Id="R58f660a33ee84e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58e39f72e4f1c" /><Relationship Type="http://schemas.openxmlformats.org/officeDocument/2006/relationships/notesSlide" Target="/ppt/notesSlides/notesSlide19.xml" Id="Rd4b4f052c99b4e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dd9b8023e4ffe" /><Relationship Type="http://schemas.openxmlformats.org/officeDocument/2006/relationships/notesSlide" Target="/ppt/notesSlides/notesSlide20.xml" Id="R2e7623933f3841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4069321c547c5" /><Relationship Type="http://schemas.openxmlformats.org/officeDocument/2006/relationships/notesSlide" Target="/ppt/notesSlides/notesSlide21.xml" Id="R5de0495d6c9042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9d82a8fe34946" /><Relationship Type="http://schemas.openxmlformats.org/officeDocument/2006/relationships/chart" Target="/ppt/slides/charts/chart1.xml" Id="R28bc23032bfc46be" /><Relationship Type="http://schemas.openxmlformats.org/officeDocument/2006/relationships/notesSlide" Target="/ppt/notesSlides/notesSlide22.xml" Id="Rde1541e2ffb44f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a6bcc8eac4a4a" /><Relationship Type="http://schemas.openxmlformats.org/officeDocument/2006/relationships/notesSlide" Target="/ppt/notesSlides/notesSlide23.xml" Id="Rae3f44d39f724ba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3717adb3b41ba" /><Relationship Type="http://schemas.openxmlformats.org/officeDocument/2006/relationships/notesSlide" Target="/ppt/notesSlides/notesSlide24.xml" Id="R8423145d1ec74bad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路演评分权重</c:v>
          </c:tx>
          <c:spPr>
            <a:solidFill xmlns:a="http://schemas.openxmlformats.org/drawingml/2006/main">
              <a:srgbClr val="0E5A6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业务痛点</c:v>
              </c:pt>
              <c:pt idx="1">
                <c:v>业务闭环</c:v>
              </c:pt>
              <c:pt idx="2">
                <c:v>AI 能力</c:v>
              </c:pt>
              <c:pt idx="3">
                <c:v>可观测</c:v>
              </c:pt>
              <c:pt idx="4">
                <c:v>推广路径</c:v>
              </c:pt>
            </c:strLit>
          </c:cat>
          <c:val>
            <c:numLit>
              <c:formatCode>General</c:formatCode>
              <c:ptCount val="5"/>
              <c:pt idx="0">
                <c:v>20</c:v>
              </c:pt>
              <c:pt idx="1">
                <c:v>15</c:v>
              </c:pt>
              <c:pt idx="2">
                <c:v>30</c:v>
              </c:pt>
              <c:pt idx="3">
                <c:v>20</c:v>
              </c:pt>
              <c:pt idx="4">
                <c:v>15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77E2D7-56EA-475C-BFB8-4EDA7706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AC332-3594-4E9F-8121-0111F368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钢铁质量管理系统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77F85-F498-47CA-BA42-5295EF95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规则判定为底座，AI 做可追溯的检索、解释、建议与风险评估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C4E5B-BAB0-4936-B7E0-02D7F470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路演说明稿 / 基于项目 OpenSpec、参考材料与代码核对生成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A71CE-2AE1-4628-8788-A98CF6D0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724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76197-B0ED-420F-9C89-FBF811AA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DE46C-C56D-4A5D-8950-8F9E30B7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OpenSpec capability specs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90717-7092-4ECB-B745-535F696D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724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EA532-A2F4-4FCF-BD64-C2FCEB9D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7DBDF-1FEE-4EB6-B6C0-648AC611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71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AI 业务场景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0FC41-A248-4DBC-B423-B0AA9B31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400A4-D0F5-42BB-A7A1-259519F9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4835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6DAEC-E31E-4244-9D73-E4637A50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FB592-F53B-47A5-AEB2-A38A79AC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01 / 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89AFC-331B-4510-94EE-83BC402E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按评分维度组织路演叙事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355A3-8BCA-4A1C-94F9-079FA164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EDD4E-B6A8-42E5-B007-8E032186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</a:tblGrid>
              <a:tr h="615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评分维度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分值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本稿对应内容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业务痛点与系统角色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痛点、角色、AI 红线、权限与审计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传统业务流程闭环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标准准备 → 检验 → 判定 → 异常处置 → 质保书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 AI 能力与效用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RAG、判定解释、复检/改判、让步、冲突、质保问答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调用链与可观测性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ModelGateway、VectorStoreGateway、Prompt 版本、评估审计</a:t>
                      </a:r>
                    </a:p>
                  </a:txBody>
                  <a:tcPr marL="91440" marR="91440" marT="45720" marB="45720"/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运营成本与推广路径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成本项、限制、分阶段落地路径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807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54C74-0E32-4AB1-95B8-AEDB969E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C3EA9-3F79-4B23-8A77-17E2D4A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02 / 业务问题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6285F-E61B-4946-B605-9116B388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业务痛点：质量判定不是只有“合格/不合格”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F8ABB-926D-4496-8973-4987A340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1FCC3-E8DE-4221-A50C-CC385AC4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089E1-EB7C-4E79-8F70-85215C28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7A4EB-9C74-4634-BBB0-FFF14321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多标准并行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594FC-6E56-4051-B1B9-2E522663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同一产品可能同时受国标、企标、客户协议约束；人工查标准慢，且容易漏版本、生效期和适用范围。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F6E6F-2358-463A-BECE-08B47ABF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708F0-9A4A-43E4-9407-84F685B8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811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判定依据难解释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70D14-7E4B-4887-856E-7DAEBBE1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00275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自动判定只给结论时，销售、生产、质量经理很难快速确认：用的哪条标准、偏差多少、触发了什么规则。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4416D-F02C-428F-BE36-4A47AF23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5FD81-9074-433B-85E6-15D03FD6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811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异常评审缺沉淀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371CA-0870-4BEB-BD83-7BB01E55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0275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复检、改判、让步接收和标准冲突都依赖人工经验，历史投诉、案例和替代资源不易复用。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50CEC-FCCE-4E35-B0D0-D483F74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系统目标：让规则判定可解释、让异常流程可追溯、让 AI 建议可审计。</a:t>
            </a:r>
          </a:p>
        </p:txBody>
      </p:sp>
    </p:spTree>
    <p:extLst>
      <p:ext uri="{BB962C8B-B14F-4D97-AF65-F5344CB8AC3E}">
        <p14:creationId xmlns:p14="http://schemas.microsoft.com/office/powerpoint/2010/main" val="158378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6D669-C65C-4CEC-926A-63AE2FC9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6AA94-2748-489D-B7F1-A1EB50E7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03 / 角色边界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5F7D3-51DD-48CB-AACB-FFE95BA3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系统角色：规则给结论，AI 给解释与建议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675A8-FA19-497F-A38C-4D1F98CA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48637-BF90-4372-B1E0-23F938F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0F7BD-3ACB-444D-AF41-19414EAD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0CA35-7EB5-41FC-9B57-06E01586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规则引擎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464E2-6C91-43E0-852C-D73E426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9146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唯一产生合格、不合格、需复检、可让步、标准冲突等业务结论。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F063E-535D-4944-B425-A1543DA0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5C940-9035-4EA8-8D7A-D1411E51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AI 能力层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547D3-E8CA-4FC5-B516-89E2354D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52650"/>
            <a:ext cx="29146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基于结构化事实和 RAG 来源生成解释、问答、建议、风险说明；低置信时拒绝确定性建议。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49822-603E-4F27-893C-FDCFEEFE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630B5-006F-4EFE-9935-EC95B723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3A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33A2C"/>
                </a:solidFill>
                <a:latin typeface="PingFang SC"/>
                <a:ea typeface="PingFang SC"/>
                <a:cs typeface="PingFang SC"/>
              </a:rPr>
              <a:t>人工流程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8E52F-58A2-453A-955F-2DB787BF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29146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复检、改判、让步审批、标准冲突裁决必须由授权角色操作，AI 只能预填或提示。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ED7C2-3BD4-4306-99EB-7C68F8E3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结构化标准数据是判定真相源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77CB4-534A-453B-B6FC-393F9715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RAG 原文用于引用、解释和核查，不覆盖结构化限值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38F9A-BC21-47C2-B10A-5F23A492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AI 输出必须可追溯、可降级、可审计</a:t>
            </a:r>
          </a:p>
        </p:txBody>
      </p:sp>
    </p:spTree>
    <p:extLst>
      <p:ext uri="{BB962C8B-B14F-4D97-AF65-F5344CB8AC3E}">
        <p14:creationId xmlns:p14="http://schemas.microsoft.com/office/powerpoint/2010/main" val="1551546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FCF5DE-A775-4DB6-8DDD-C4ED0390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9CCB1-1675-43ED-BC57-7D726D5A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04 / 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F2C2A-B4E8-463E-8606-B9BCC332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传统业务闭环：从标准到质保书，不依赖 AI 也能跑通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ADE22-B808-4A65-82A9-092D3AF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1E906-139C-42E1-887A-0D10E747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8C4F3-67EF-4322-A386-3A16EAB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6AC57-B023-427E-992E-9EEE4640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63A8F-8377-45DF-9122-CE9AF6B5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标准准备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51B5E-9389-4DA8-B15B-FA230B42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标准维护、指标项目、源文件上传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57E9E-1195-4943-AD97-AF97C717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A0922-55B8-44BD-9866-6DA726C6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EA15C-7F8B-47F7-8F3F-054FFE0E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检验录入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FDA66-AE72-4080-8C4B-D27932A4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卷号/批次、客户、品种、规格、实测值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8DC15-0731-44CA-91C6-2012E557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192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A3C30-7E46-4B6B-B913-542DFCCB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856CC-322B-4934-AE7C-325019CC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规则判定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777C3-65D0-4586-92E3-1F88D8D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匹配优先级：客户协议 &gt; 企标 &gt; 国标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13196-0F64-42D9-B9D0-6E7BBA6B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191AC-6E61-410F-9175-1F224DEE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6BD30-911A-4205-8FA6-A6BF6CAF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异常处置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2E98F-D3B4-4431-9EC4-80AEDC38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复检、改判、让步、冲突裁决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912CA-7486-4B63-BABE-BBD092C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5D4674-179B-479D-BF14-A1D7729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59786-4F9E-4014-9FB9-DBA9DD91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数据发放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031D6-354A-4B5E-BA22-9223446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90950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质保书数据、PDF、状态门禁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A402C4-6DA4-4EDC-892A-37EE3682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55EC90-1978-4242-BB77-9EB0330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FC2D5A-DD2A-4CB3-A9C1-8D19B4DE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统计审计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3E780E-E85E-49AE-BEBA-31C525C4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90950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质量统计、权限审计、AI 审计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700B6-C12E-4CE2-9F44-63D2EEDF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证明系统不是“AI 外壳”：标准库、判定引擎、异常工作流、质保书和审计先构成真实质量管理底座。</a:t>
            </a:r>
          </a:p>
        </p:txBody>
      </p:sp>
    </p:spTree>
    <p:extLst>
      <p:ext uri="{BB962C8B-B14F-4D97-AF65-F5344CB8AC3E}">
        <p14:creationId xmlns:p14="http://schemas.microsoft.com/office/powerpoint/2010/main" val="580247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2B2D3-3865-48E0-A2CD-1DE704E5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314C8-1B68-4F23-82B2-85C33770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05 / 系统模块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00B7C-F0A6-4866-9D38-7D4E0730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模块全景：业务模块与 AI 增强点对应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C5F8C-5304-454C-A87A-F2D0F449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314A3-DA95-46F4-97D2-94D49D50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314450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7975"/>
                <a:gridCol w="2847975"/>
                <a:gridCol w="2847975"/>
                <a:gridCol w="2847975"/>
              </a:tblGrid>
              <a:tr h="682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模块群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传统职责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增强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路演证明点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国标/企标/客户协议、指标限值、版本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 RAG、源文件解析、冲突检测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问自然语言问题并展示引用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检验判定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检验录入、规则判定、依据快照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判定解释、置信度、引用缺失提示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值/限值/偏差逐项解释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异常流程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复检、改判、让步接收、冲突裁决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复检/改判建议、让步风险评估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只预填，不自动审批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数据输出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质保书数据、PDF、质量统计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质保书问答、低置信门禁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冲突未裁决禁止正式出证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系统基础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RBAC、菜单、审计、字典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评估审计、Prompt 版本、采纳记录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调用链可回放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690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30288D-284A-4AD5-BF14-8962A70A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C5F61-8230-4993-AB71-EB311AE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06 / AI 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F3831-0E92-4DC3-9315-46D907BF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核心 AI 场景：围绕判定依据，不围绕模型炫技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53DD3-9BAB-4BC6-B438-6C3B4197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2A48C-465B-4E54-9B73-DC02DE03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BCD41-9ED4-4900-A797-77D8DBF4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8A516-4FF2-416D-BD63-CFE425DD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E0DA5-0F65-477B-A61F-83044E1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标准条款检索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来源可追溯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28718-2F4F-4BEA-8635-5048365B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0B304-A33D-4317-82E5-CD35A843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049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B4C31-A4DE-4743-B998-34FF5441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4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标准、限值、偏差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与触发规则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0F954-D8BB-4761-9AFD-481CF34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76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A2DEB-FF2D-4C43-9D4E-7433532B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049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DFA93-5169-47AC-A52A-37C82657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574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复检/改判预填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不自动建单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D66BC-9DC0-4121-9C4F-1566F987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E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1586B-B1E5-4CB6-A8AB-917709C1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B4A8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5B4A8F"/>
                </a:solidFill>
                <a:latin typeface="PingFang SC"/>
                <a:ea typeface="PingFang SC"/>
                <a:cs typeface="PingFang SC"/>
              </a:rPr>
              <a:t>让步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69A5A-1F86-4062-8952-D83233BE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用途、偏差、案例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和替代资源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3A279-3C50-416F-AAE7-5D2468CF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F8A2A-FF83-4581-A264-8E10FFC4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289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33A2C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A33A2C"/>
                </a:solidFill>
                <a:latin typeface="PingFang SC"/>
                <a:ea typeface="PingFang SC"/>
                <a:cs typeface="PingFang SC"/>
              </a:rPr>
              <a:t>冲突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204B38-EB53-4DA3-8E0D-3E8F9AB0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814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同级标准冲突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阻断放行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EF245-A9FB-4CE4-8BFF-C2B7C101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3738B-4154-475C-9C7A-DC8DCB2E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289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质保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A80D6-91C3-48EA-956C-8ADA97EC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814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数据、PDF、问答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状态门禁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5BEEE-907D-4339-9610-6941732D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76375"/>
            <a:ext cx="2619375" cy="27241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DA36C-F892-41ED-9499-47C1FC6D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85925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共同约束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1F2E0-9769-402F-B5A5-6204942C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05025"/>
            <a:ext cx="220027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所有 AI 输出都要围绕结构化事实、来源引用、置信度、降级来源和审计记录；缺证据时拒绝编造。</a:t>
            </a:r>
          </a:p>
        </p:txBody>
      </p:sp>
    </p:spTree>
    <p:extLst>
      <p:ext uri="{BB962C8B-B14F-4D97-AF65-F5344CB8AC3E}">
        <p14:creationId xmlns:p14="http://schemas.microsoft.com/office/powerpoint/2010/main" val="73888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477449-4809-4BB1-AC86-2B8FA853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9FFEB-5270-42CB-B575-9E48C4BD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07 / RAG 入库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70E86-3860-4D62-88ED-6C09A695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标准 RAG：文档进入知识库前先变成可引用条款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805D6-6207-4C90-BF4F-AA54C79E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C24B1-E5E6-499F-A5F4-F18AAFDC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183F2-CAEA-4DFA-ABE9-04FB6911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5AC2D-319B-48CA-8F68-42A75AF6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2FD77-23FC-45F2-9BFC-601492F2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621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源文件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BEAE7-0269-414C-B2AB-0C6B37E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PDF、Excel、图片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多文件挂到同一标准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DA177-12CF-4058-8E65-EB770241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71625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B9BD7-A87F-433D-979C-1686ADA8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430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F2DB9-14AE-4400-AF38-08D164BD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文本提取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4EA2C-4D72-4632-8279-B4CA1ECC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240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PDFBox / POI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图片走 OCR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406C3-0B29-467D-BB17-6646C38D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71625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87D9A-6038-4FFD-985C-DBF5E65D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430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B37C3-30BD-4CBF-B859-49AA823C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确定性分块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C41FE-ABF1-47E2-ACD1-1B0BD9EC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240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按条款号、标题、页码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保留引用锚点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4048A-8D3D-4E28-BE23-F705050E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117B1-00D9-4A87-8395-AF275B7D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EC927-2F3C-4B57-8B44-8BBD38C6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623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MySQL 条款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5B62F-5677-4495-B118-AB3DB754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242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保存条款正文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和业务元数据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F2E3A-9FBA-4F3B-A310-8763CBFC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813C1-EF8C-4BE7-B442-D0716265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432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A9440-4F5E-4252-8144-805EBB66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623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向量化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6D554-0296-4D82-82C9-E2C1F315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242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bge-m3 生成向量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用于语义检索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98329-7E83-4971-8CCB-D5B6BFB4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15007-6DDC-4287-9AAD-E6F61705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432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565866-57C1-42C8-AC8D-52F51843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ES 索引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E30982-BFB3-456C-A774-38797F8E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242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向量 + 关键词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混合检索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AE235-8475-4BB8-8560-1FB57832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关键设计：文档原文只负责检索、引用和解释；不会反向修改结构化指标限值。</a:t>
            </a:r>
          </a:p>
        </p:txBody>
      </p:sp>
    </p:spTree>
    <p:extLst>
      <p:ext uri="{BB962C8B-B14F-4D97-AF65-F5344CB8AC3E}">
        <p14:creationId xmlns:p14="http://schemas.microsoft.com/office/powerpoint/2010/main" val="8785605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B0F711-D06D-4DA7-B736-850482F5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5036B-912B-4E30-BDF9-D0394F6E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08 / RAG 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9D5B0-3D87-4BC7-A74B-F7C6EEA2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RAG 效用：从“人工翻标准”到“带引用回答”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67095-0576-4053-A92C-B3DBB077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F19C7-21F8-48C3-A8F7-E23414AC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29CF9-F582-4D06-90D0-8C7D4FF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4905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FDD23-173F-4FC7-90DB-9DD7DAD9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传统基线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6F820-C594-42EF-9100-289E7060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486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人工按品种、牌号、客户、版本逐份查标准；容易漏掉生效期、适用范围和条款上下文。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2F663-076A-4644-9AC7-AE01C53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00200"/>
            <a:ext cx="4905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1D331-6ED2-40ED-AEF7-E5340608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AI 增强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985BD-277C-4CCA-8E7B-1EA71D30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28850"/>
            <a:ext cx="4486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输入自然语言问题，系统执行 query embedding、向量/关键词检索、来源过滤、Grounded Chat，并返回来源段落。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F82E3-443E-4A8B-A421-7003E116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示例问题：GB/T SIM 912-2026 中 Q235B 冷轧板 Rm 范围是多少？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1B2F7-7118-474D-BFD2-72BB5C9E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0530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07B7B-81FB-42C5-8594-9C18E17B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624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答案必须引用条款号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FBD87-CFE9-47E2-83CC-1BADA9CC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FAA98-C9FD-468B-9C6D-49E51D3D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低相关只展示原文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223B6-0BDA-4485-B5CA-E9A16259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0530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45A43-4615-4E99-A3F6-BC2EDBEF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33A2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33A2C"/>
                </a:solidFill>
                <a:latin typeface="PingFang SC"/>
                <a:ea typeface="PingFang SC"/>
                <a:cs typeface="PingFang SC"/>
              </a:rPr>
              <a:t>无证据拒答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CF1FE-23ED-4AB3-9233-35873478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C0102-C456-4618-BE17-2C0D3307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624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4A8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B4A8F"/>
                </a:solidFill>
                <a:latin typeface="PingFang SC"/>
                <a:ea typeface="PingFang SC"/>
                <a:cs typeface="PingFang SC"/>
              </a:rPr>
              <a:t>注入请求不调模型</a:t>
            </a:r>
          </a:p>
        </p:txBody>
      </p:sp>
    </p:spTree>
    <p:extLst>
      <p:ext uri="{BB962C8B-B14F-4D97-AF65-F5344CB8AC3E}">
        <p14:creationId xmlns:p14="http://schemas.microsoft.com/office/powerpoint/2010/main" val="180761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20C70A-B24F-4391-8455-CC02C55F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F93E0-4D63-46AA-A23B-4205DE06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09 / 判定解释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6D0A8-A40A-4247-934A-6AFCD674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判定解释：把规则引擎结果翻译成可复核证据链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1CDCB-27D3-4263-92F9-8FED47E1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BEB60-9AB2-4ACD-902D-D57A521D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DEB62-C7D0-45BD-B03F-6864DF29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9F258-01EB-498A-BE9B-F0CE6436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结构化事实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3530E-FEEA-4CA7-B5B3-DCCA183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判定结论、检验值、上下限、偏差、触发规则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4BBE6-08C6-428A-9388-6DB1E8EF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42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33EFE-1CB2-4092-88FB-C5B882E2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7D33E-9D4E-4848-9277-658514D1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来源引用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4D75D-8974-4E0C-A39C-D1F12AF0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标准名称、版本、条款号、页码、来源段落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8897D-7E70-4881-817A-A8763841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42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A2B98-D555-4967-80F0-21FC193B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CFF88-0D20-44D0-AFA8-67CCC41A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AI 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069F7-6817-4E1F-A5D2-B706A0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只依据规则解释与来源条款组织语言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AAD0C-DFBC-4938-B534-396DFA5E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合格：逐指标展示实测值、合格上下限和通过结果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32E71-A113-4CF2-B947-9826671F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577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可让步：展示正常限、让步限、偏差和 CAN_CONCESSION 触发规则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412A9-FCEB-4A96-BABC-35B08719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96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冲突：展示冲突详情，不给最终放行类结论</a:t>
            </a:r>
          </a:p>
        </p:txBody>
      </p:sp>
    </p:spTree>
    <p:extLst>
      <p:ext uri="{BB962C8B-B14F-4D97-AF65-F5344CB8AC3E}">
        <p14:creationId xmlns:p14="http://schemas.microsoft.com/office/powerpoint/2010/main" val="6865267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390E9-FFDE-4D39-A16E-5E6B0BE2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EF00D-6BE8-4B92-8C13-6489381A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10 / 输出校验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B418B-6650-4F5B-885B-656A4647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解释为什么可信：输出必须通过 grounded 校验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569CE-5CEB-444F-9CF9-E2E5FC7E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3848B-D1EC-43B2-A567-717B5BDB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3C2DB-9095-4D4D-8024-0C805594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569D1-9EE4-4155-9251-54DE8D3F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002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E4353-9864-495C-86C9-A763C01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19250"/>
            <a:ext cx="937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非空与引用完整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4E353-9F5C-4B42-92C0-4353470F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81200"/>
            <a:ext cx="937260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模型输出、citation 列表、段落正文都必须存在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D5A51-7A89-4632-A266-143CF7E5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DD205-542D-4CAB-9766-4AF2BA9A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C7632-1E17-4DE3-A902-D739179B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937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出现引用标记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A8A47-9239-4C7C-8BDD-74514C4B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937260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关键句必须包含 [1][2] 或条款号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407A4-871C-4301-85B8-BFF6D166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A58D1-68C2-4CCF-ACB6-204F0F03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E2F5F-4E42-49BA-8232-44C4F0C8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937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数值可回溯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F50D5-58F5-4FE5-85C5-E51C8079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43300"/>
            <a:ext cx="937260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370 MPa、26% 等数字必须在被引用段落中找到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8F994-CEB0-4EB9-B0BF-557F1840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95DDD-0A68-4A33-BEEA-6066C304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426AD-EA4F-4222-8104-0B24C6DA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937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禁止误引范围/定义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40264-D77A-43D1-8CDF-AA14773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937260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适用范围、术语定义不能冒充限值依据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045C3-21B7-44FA-89FA-472494F3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B5363-DD5A-4514-B077-E7E499AD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689DB-C3E3-406D-BA14-5736FD69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937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失败即降级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CF922-82F8-42AA-A365-8BC3E409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937260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MODEL_REJECTED → 规则模板或原始检索</a:t>
            </a:r>
          </a:p>
        </p:txBody>
      </p:sp>
    </p:spTree>
    <p:extLst>
      <p:ext uri="{BB962C8B-B14F-4D97-AF65-F5344CB8AC3E}">
        <p14:creationId xmlns:p14="http://schemas.microsoft.com/office/powerpoint/2010/main" val="297011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659FE-5B4C-4CB5-AF7D-DF53D5EB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C9534-C892-4FAB-BDD4-16A4F22B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11 / 流程建议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D16F5-AEE6-47D5-A182-DCEECA10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复检 / 改判建议：AI 只辅助决策，不替代流程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3A237-56FD-4C11-AD97-3022779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6D859-45B4-4032-8A77-F49ED729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01B07-9567-4FCA-B041-C39EB4E2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26990-E23D-4442-9320-159AFEC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复检建议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DB2F3-7AB8-455C-8121-A37CBCFD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读取判定解释快照。若存在异常指标且非冲突、非低置信，建议发起复检并预填原因。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15A5E-F993-4F9F-94A9-BF0B3FD8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A0D13-39A1-4758-9C97-18433B85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28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改判建议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A2CD0-35D0-440C-A7D7-2BF1DD8C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47900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主要覆盖让步带证据场景，可建议目标结论 CAN_CONCESSION；用户仍需手动提交。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8F33D-CEE9-4024-8DC0-B0540087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499A9-FF97-4E73-8154-68DAFF04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28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3A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33A2C"/>
                </a:solidFill>
                <a:latin typeface="PingFang SC"/>
                <a:ea typeface="PingFang SC"/>
                <a:cs typeface="PingFang SC"/>
              </a:rPr>
              <a:t>阻断规则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B129A-07C6-452B-8C4D-85885E69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9146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STANDARD_CONFLICT、LOW 置信度或引用缺失时 withhold，禁用“采纳并预填”。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B84C0-9767-4F09-9BA6-622225FA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采纳 ≠ 执行：AI 评估记录标记 ADOPTED / IGNORED，流程记录仍由人创建和审批。</a:t>
            </a:r>
          </a:p>
        </p:txBody>
      </p:sp>
    </p:spTree>
    <p:extLst>
      <p:ext uri="{BB962C8B-B14F-4D97-AF65-F5344CB8AC3E}">
        <p14:creationId xmlns:p14="http://schemas.microsoft.com/office/powerpoint/2010/main" val="4339198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578466-3D08-41A1-8334-17B1C83A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92AD0-75AE-41B6-8667-05027E99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12 / 让步接收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AB361-AF04-4787-A8B9-03A71316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让步风险评估：规则定风险，模型只润色说明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3B457-659F-4F97-943B-7FF27D18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ADA46-60A7-403A-93FF-B06D1933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7DAF4-4EF6-4C6A-B535-88FCF42B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B90DD-24D4-45C6-8608-9CA75D04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输入维度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1E818-C6E4-4575-81FE-D804E492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9146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客户用途、偏差程度、让步条款、历史投诉/案例、替代库存、当前判定证据。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B9CB7-4E19-41F3-B6D7-036FE1A2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EB59B-5B0E-4EEC-9CD7-A43516E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09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规则基线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F3C99-03A9-4ACE-BC0A-2D0BE131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28850"/>
            <a:ext cx="29146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非可让步结论、未裁决冲突、缺用途或缺让步依据直接阻断；高风险用途至少高风险。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433F1-7FC1-48BF-9C50-86118393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C5AE3-D812-4E72-9F0B-A0FC679C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输出结构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33C75-8E03-489C-BC21-E4A14F95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29146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风险等级、是否必须复核、缺失信息、建议条件、阻断原因、证据引用和置信度。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0DBAE-4EA3-403F-BA06-48DA33B5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审批仍走销售一审 + 质量终审；低置信或 BLOCKED 不给确定性让步建议。</a:t>
            </a:r>
          </a:p>
        </p:txBody>
      </p:sp>
    </p:spTree>
    <p:extLst>
      <p:ext uri="{BB962C8B-B14F-4D97-AF65-F5344CB8AC3E}">
        <p14:creationId xmlns:p14="http://schemas.microsoft.com/office/powerpoint/2010/main" val="10248046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881F9-ECE1-4C05-9EC5-A2B47CA7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F04EF-38FF-49D3-99AA-B85922AC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13 / 标准冲突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BAD8C-5115-4FE9-8E7B-8CFA9E92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标准冲突：先人工裁决，再由规则引擎重判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E9FD6-64AE-4F93-A883-D760112E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ED05A-E7F2-4384-83AD-DD85F5AB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ECD0A-03F8-461F-9441-B03B6B7F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7EEA3-603B-453F-A8A7-049FB279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3633E-C96C-472C-9E8B-3A7C61E5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0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检测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B6B26-D3BD-4BA9-8385-D1EBB35D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发现同级标准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限值或口径冲突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FDCEC-393C-42C4-A569-63187D6C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1E97E-EFE3-49F4-ADB1-691070AE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33A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A33A2C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346F5-0D95-4D17-A269-D6E04490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0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阻断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C5FC4-1EEC-4407-B339-C04598EF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标记冲突结论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禁止正式出证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CF9E9-CB69-4F2E-92EE-B708ED6B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9D485-E284-4BE9-9C35-0242C20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9932E-7188-45B3-9EF0-4A7FB5FB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裁决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B1E30-A315-4811-A48A-A4885D5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人工选择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控制标准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996EA-DBB2-45EC-880B-679E7B6E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EF5FA-280D-4DFB-BE64-3C4B0731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D89E9-A723-4ACA-9482-1DFC124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C1E8C-BFD7-442F-BAE4-9D9BD134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按控制标准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规则重判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625A54-BE22-45B0-A201-19F6C3C0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48AD3-003C-4639-A557-4E4BA616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CABF0-8804-488C-B53F-4A734390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14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解释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3FFB5-CAC8-40A7-9283-1C734975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重新解释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恢复放行链路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04D61-ECE2-420E-B7BF-CA7F551C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66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在冲突场景中只做低置信解释和流程门禁，不提供“AI 裁决”。</a:t>
            </a:r>
          </a:p>
        </p:txBody>
      </p:sp>
    </p:spTree>
    <p:extLst>
      <p:ext uri="{BB962C8B-B14F-4D97-AF65-F5344CB8AC3E}">
        <p14:creationId xmlns:p14="http://schemas.microsoft.com/office/powerpoint/2010/main" val="5159783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F4F2B-22FC-450E-8EC3-56EA7701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8048A-F925-4501-9C22-871AC2BF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14 / 质保书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8EDB5-600B-4128-ADFF-FAAC17C2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质保书：状态门禁 + AI 问答，保证最终数据可信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4DC35-9372-4E58-9CFF-77984C0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98003-54B9-487F-BBFB-9AA8A725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B6E08-C980-4040-AFB9-679A4939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333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9FB37-1062-4408-A569-A27735E5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数据快照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5E602-F542-4DA5-A7EA-6FF4A474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9146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从最终判定和检验依据汇总关键指标；合格或已批准让步才可正式生成。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C381B-F6CB-4443-822E-88253F87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2ACB0-6C8E-44CB-8D86-52427E98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28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PDF 导出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DA529-97EE-4F91-9C5D-6C54395A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47900"/>
            <a:ext cx="29146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正式质保书带受控解释和引用；冲突未裁决只能生成非最终预览。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037AB-AC22-4D2E-8B94-1FF9673D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3337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64466-AC9D-47CA-9099-ED6CB94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28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质保问答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47178-4273-4ED4-883F-129A9076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9146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按卷号/批次回答为什么可出证、指标依据是什么；缓存回放也需引用校验。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079B6-A087-4B81-9442-54470B30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UNQUALIFIED / NEED_REINSPECTION：拒绝正式出证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EFA95-6E9E-450A-B962-EFFF7D51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CAN_CONCESSION 未审批：提示审批未完成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18BF4-DB75-4DAA-A515-18E9D598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STANDARD_CONFLICT：禁止正式生成，预览必须标注非最终</a:t>
            </a:r>
          </a:p>
        </p:txBody>
      </p:sp>
    </p:spTree>
    <p:extLst>
      <p:ext uri="{BB962C8B-B14F-4D97-AF65-F5344CB8AC3E}">
        <p14:creationId xmlns:p14="http://schemas.microsoft.com/office/powerpoint/2010/main" val="14272058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ECE4D-664E-40C4-B8A8-FF6A19A8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0C925-9D3D-4C61-BC22-0CB02D66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15 / 调用链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C243A-08B4-4C64-9F2C-39B711E0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调用链：业务服务经网关访问模型与向量库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14FD3-4F2A-4F15-98EC-AF5120CE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50706-C644-4FB5-B991-A89EEC9A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26C79-C040-489F-9F3F-650F062A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D071E-BCA6-4A52-AE27-B3A6E2FB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03DBA-8525-4C95-AFB9-A8576D2B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4312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REST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37848-CF91-45AF-BFD1-BDF5C2EA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05075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RAG、判定解释、让步评估、质保问答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FD481-A8E2-43B2-8A84-C2576BDE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E7CA6-CE3E-4E39-A563-730EA9A1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240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F9501-8FE2-46FA-A412-D6BE7E98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431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FBA69-BC95-4A3F-B3A2-4ED53327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05075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编排规则、引用、状态门禁与降级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EBC44-B5B8-407F-80D5-D75B3901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1F042-B9A8-4613-9C1C-03D23F08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525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CEA2A-7E28-4A37-B1D4-DE2576B2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716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模型网关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E0047-E21A-48C6-9747-8D279E6A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33575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Chat、Embedding、Vision OCR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统一协议与错误结构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C9BE7-6348-416B-94D3-9E113C8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89ED2-236E-4DC5-AF74-6C252CC7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480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7C38F-D19B-47C6-A66C-0ED9526F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671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向量网关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BD334-8041-41FB-9070-908F9A1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29075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ES 混合检索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向量 + 关键词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3913E-0167-474C-B74E-FA6426CF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E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166CB-519E-4C1A-827F-06B273D9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52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B4A8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5B4A8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808A3-5EC1-44E9-8CB7-E9957AA8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7175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外部能力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95098-A772-4860-B6AD-AD8A39CC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33700"/>
            <a:ext cx="1085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DeepSeek 对话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bge-m3 向量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ES 索引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D57802-8EE5-4845-AA3F-8CD50557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424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79EEBB-DEBB-466B-91DF-F8E2041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571500" cy="-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42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B416A-1C63-4B87-A4D3-C4DCBD0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57150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424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CD8F20-21DA-4081-8234-2BC34573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381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424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EB34CB-C8D2-4D7D-A037-381C9FB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381000" cy="-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42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2F736-0802-473C-A8D3-FA0EFB3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失败可观测：记录 provider、operation、trace id、业务对象、错误类别和耗时，不记录密钥。</a:t>
            </a:r>
          </a:p>
        </p:txBody>
      </p:sp>
    </p:spTree>
    <p:extLst>
      <p:ext uri="{BB962C8B-B14F-4D97-AF65-F5344CB8AC3E}">
        <p14:creationId xmlns:p14="http://schemas.microsoft.com/office/powerpoint/2010/main" val="13545890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1FDC9F-FEBB-4CF0-84C0-D3F739EE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4C2D5-A2DF-4888-BC03-61E0CA93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16 / Prompt 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8091A-2708-49B6-AB54-27B7975A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Prompt 版本化：固定策略入资源，动态事实运行时拼装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ADF3B-8039-4C67-978B-1910579F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9C225-7FE8-4520-86E4-8064827B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32C5-CDAE-4AAE-AF47-C7ED8126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333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21280-C419-4F1C-B7F4-A991BC82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Layer 1 策略红线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70473-77F3-461A-9179-A90686E3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角色、引用规则、温度、输出长度和激活版本进入 manifest。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DFFD7-D10D-4FED-8C6E-99B9310B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03A05-FB9E-4607-88CD-FCB347BF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Layer 2 场景骨架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12F7F-3D15-44C9-BAD6-733F8A64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5265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判定解释、标准 RAG、质保问答、让步风险各有版本化模板。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178F5-2508-45A1-9498-B67C7E9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333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13C6F-3971-471C-9631-9962FFB0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Layer 3 动态事实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2DE82-138C-4FCC-9833-996DCA2E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判定、指标、检验值、引用条款和用户问题由 Builder 注入。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D7954-696D-406D-B7E1-6110BAF5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Prompt version 写入 qc_ai_assessment，支撑回放和对比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D54CB-9C11-4DE8-8DE7-22AAFFE3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引用规则与 CitationReferenceSupport 配套，不能靠 Prompt 放松安全边界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48D33-3D29-48D6-9D1C-3A9E0C6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版本升级流程：复制模板、更新 changelog、改 manifest、跑 golden tests</a:t>
            </a:r>
          </a:p>
        </p:txBody>
      </p:sp>
    </p:spTree>
    <p:extLst>
      <p:ext uri="{BB962C8B-B14F-4D97-AF65-F5344CB8AC3E}">
        <p14:creationId xmlns:p14="http://schemas.microsoft.com/office/powerpoint/2010/main" val="16315762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47FDE-6E1A-4B99-8FDB-CC69BE41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EDFDE-FEC4-468C-A0C7-EDCE3E6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17 / 置信度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1493C-C70F-4E72-8D33-F4FAB340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置信度：让 AI 输出有门禁、有解释、有运营指标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76F1A-D12A-420C-B15C-826A0D3F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52261-0C40-4C6C-9949-02B781BF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3F32A-CFB7-44A1-B484-2EE95095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D0DFA-152B-450D-A588-20017A27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0.60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15F6A-8B5C-432A-B675-68F0CF13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规则完整性默认权重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B598B-75F4-4489-BCEE-92AA57AA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1925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4D1C3-9B45-456D-ABF6-6E64B3F8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47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0.30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B538D-6336-4EE8-B1C8-9520A9E3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00300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RAG 引用质量默认权重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330FF-AB20-4921-9C7B-F2373285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1925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973F1-4244-4EC7-808C-04DCCC0C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0.10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31AC3-A5DF-491C-92F4-160C8D49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0300"/>
            <a:ext cx="177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LLM 输出校验默认权重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42952-240F-4B7A-B9C5-08932087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F4EC9-8215-4EA9-9846-565E60C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33A2C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A33A2C"/>
                </a:solidFill>
                <a:latin typeface="PingFang SC"/>
                <a:ea typeface="PingFang SC"/>
                <a:cs typeface="PingFang SC"/>
              </a:rPr>
              <a:t>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570B4-0859-4907-BF04-9093FB1A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冲突、缺口、无证据时强制人工复核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EF4BB-FA0B-498D-AA4E-6CFB963B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6D3EB-7D97-42AD-934F-515DAAD2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产品行为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D8BB4-797F-4DF9-99CA-BC22FE24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低置信：复检/改判建议 withhold；让步风险不提供确定性建议；质保解释提示人工复核。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9D5C9-C051-4389-9537-DCF9D213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DF5F4-8B48-4AB8-9CAA-151E3FC6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385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审计与运营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0F2B1-4E01-4CC9-9A16-CAF953D5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576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工作台低置信待办、AI 评估审计按 label 筛选、采纳/忽略状态可追踪。</a:t>
            </a:r>
          </a:p>
        </p:txBody>
      </p:sp>
    </p:spTree>
    <p:extLst>
      <p:ext uri="{BB962C8B-B14F-4D97-AF65-F5344CB8AC3E}">
        <p14:creationId xmlns:p14="http://schemas.microsoft.com/office/powerpoint/2010/main" val="2890158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5EC1A-763D-438B-91D3-8C11540F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8A7A8-64C2-4FF7-BA01-4F192637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18 / 审计回放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72350-7860-4E34-AE2D-52A426D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可观测性：每次 AI 输出都能回到输入、Prompt 和采用状态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65AA0-6106-4875-B283-5198496A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F0077-F675-4C21-B441-3372AA41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14350" y="1381125"/>
          <a:ext xmlns:a="http://schemas.openxmlformats.org/drawingml/2006/main" cx="1114425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674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观测对象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记录内容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业务价值</a:t>
                      </a:r>
                    </a:p>
                  </a:txBody>
                  <a:tcPr marL="91440" marR="91440" marT="45720" marB="45720">
                    <a:solidFill>
                      <a:srgbClr val="0E5A6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类型、业务 ID、厂商、traceId、耗时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定位单次请求路径</a:t>
                      </a:r>
                    </a:p>
                  </a:txBody>
                  <a:tcPr marL="91440" marR="91440" marT="45720" marB="45720"/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Prompt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版本、场景、模型参数、输入快照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支持版本切换与效果对比</a:t>
                      </a:r>
                    </a:p>
                  </a:txBody>
                  <a:tcPr marL="91440" marR="91440" marT="45720" marB="45720"/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来源证据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标准、条款号、页码、原文、检索分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证明回答不是模型记忆</a:t>
                      </a:r>
                    </a:p>
                  </a:txBody>
                  <a:tcPr marL="91440" marR="91440" marT="45720" marB="45720"/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降级来源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模型生成、规则模板、原始检索、不可用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解释为什么不是模型生成</a:t>
                      </a:r>
                    </a:p>
                  </a:txBody>
                  <a:tcPr marL="91440" marR="91440" marT="45720" marB="45720"/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采纳状态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采纳、忽略、待处理与人工意见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支撑运营复盘和责任边界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2962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D90107-B44C-411C-9D7A-37DB1A72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D6DB8-C725-4F73-A088-7DC24BCB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19 / 技术选型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B8332-322D-4355-B5BB-D0DEBD0B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技术选型：企业业务栈 + 可替换 AI 网关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F5703-B6C1-4331-AF3C-93293590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DA657-0EAD-4DAF-8F6D-B79591E1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AE76B-68C5-48A6-954D-9573C4B9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333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8E265-3524-4F68-BCFB-438CFB6A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后端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9D28F-A9FF-44BF-9C8E-AB66FE62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Java 8 / Spring Boot 2.7</a:t>
            </a:r>
          </a:p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MyBatis-Plus / MySQL 5.7</a:t>
            </a:r>
          </a:p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Redis / Sa-Token / Knife4j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3F5B4-D413-4008-BE69-2120B0D0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2B66C-FC48-4F5A-8B51-F5D917E7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前端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DAB23-750B-4BE1-B794-85BC345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5265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Vue 3 / TypeScript / Vite</a:t>
            </a:r>
          </a:p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Pinia / Router / Element Plus</a:t>
            </a:r>
          </a:p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ECharts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8FA94-A4DD-4D04-B8A7-5CF1BDEA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333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2C4F8-8817-47BC-8632-BE012EEC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AI /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2191E-A9C0-4801-A581-1D3E54BF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29146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模型网关 / 向量网关</a:t>
            </a:r>
          </a:p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DeepSeek Chat / bge-m3</a:t>
            </a:r>
          </a:p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OCR / Elasticsearch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40437-B99E-4912-8BF9-2AA89144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选择 OpenAI-compatible 协议，降低模型厂商切换成本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3CB21-BB62-42B2-99DA-044AC6D1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文档解析用 PDFBox / POI，分块保持确定性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DE997-143A-4D86-9C51-36D8FA58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863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MySQL 保存业务事实与引用快照，ES 负责语义检索</a:t>
            </a:r>
          </a:p>
        </p:txBody>
      </p:sp>
    </p:spTree>
    <p:extLst>
      <p:ext uri="{BB962C8B-B14F-4D97-AF65-F5344CB8AC3E}">
        <p14:creationId xmlns:p14="http://schemas.microsoft.com/office/powerpoint/2010/main" val="8181181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607291-C38E-4DB5-8B95-56E8C76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8BF97-82A3-4209-BC87-14726024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20 / 开发方法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FCFEC-499B-4EA0-A72C-96398C7A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开发过程：用 OpenSpec 把 AI 需求变成可验证契约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75A53-E50E-4F66-80A4-D2D3D4C1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01691-1E17-421E-9288-35B0F365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FF734-3D66-40EF-AFA6-588E85A7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9BFE1-211D-4BEC-91C8-0458F1E6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82A31-689C-45C2-8FDF-48649F82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0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探索澄清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C951C-07C3-4125-8887-CB16E1E6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OpenSpec explore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grill-me 压实红线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5C74A-C3E0-434C-A8C0-E9134F8A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BF86F-0FFE-4DA8-AE19-FFA33C75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F569C-F112-40F4-A028-1A1D766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0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提案设计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1AA90-24F0-45AB-880C-A0204BE3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proposal、design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specs、tasks 拆分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92CDA-5C6B-42F6-A0A4-C35F2B2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BE9D-6C6A-48C2-910F-AE0C8278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088F5-E97D-4C57-8B94-338DFA44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实现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3EF49-88FE-4E05-A048-544F5CF1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669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后端、前端、SQL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种子数据同步落地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91F46-A71F-4178-AA4E-ACB8FD7E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4D306-F3D6-4E09-95EF-96B0DA0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D474A-5622-47EB-A807-D5FAC5AE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A1F13-9D99-4DB7-AF5B-DD0B2C32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单测、模块 API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评测集和人工手册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5E33B-0641-415A-807A-6880A590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7A96B-F7F6-46DC-AD7F-574D80B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5FC9F-F150-4150-9DC1-FAB816F6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147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归档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702CD-2E6C-47CA-870F-6B29585D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完成后 archive</a:t>
            </a:r>
          </a:p>
          <a:p xmlns:a="http://schemas.openxmlformats.org/drawingml/2006/main">
            <a:pPr algn="l">
              <a:def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主规格同步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19386-3A0E-4A5B-85CE-C66FD2CA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关键产物：13 个主规格、演示数据集、Prompt 模板、评估脚本、人工测试手册。</a:t>
            </a:r>
          </a:p>
        </p:txBody>
      </p:sp>
    </p:spTree>
    <p:extLst>
      <p:ext uri="{BB962C8B-B14F-4D97-AF65-F5344CB8AC3E}">
        <p14:creationId xmlns:p14="http://schemas.microsoft.com/office/powerpoint/2010/main" val="20347179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CA0EE-7D4F-48A4-B7BA-5B78E235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EC724-414D-4230-BEBB-363AF7A7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21 / 验证结果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7728A-ACEE-48E7-82A4-3E2E442D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验证：用演示数据和评测集证明不是“只会回答样例”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70587-B48D-4F6D-8A60-174A54B9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A64D7-D503-4CB1-A790-4932443F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72C3E-9D1B-4937-B0FA-FF9C1FB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28DB4-518F-4599-BCB6-1E15894E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20+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7404B-3176-4B04-A8FC-2A17AF2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标准/协议文档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国标、企标、客户协议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5133E-2A83-4371-ACDC-8BAC79E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2875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84AC1-224B-4616-AE86-71D56A83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100+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54CB6-CF5C-47E8-8333-F68FA67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检验记录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覆盖合格、异常、冲突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C130C-F07B-42FF-8429-FE6C36C6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2875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E5CFF-DA15-4989-9F9D-139CBA76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ED378-F3B5-48E5-BE0E-6E9CCEB0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评测用例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正常、边界、低置信、安全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D873D-A4FD-4D1B-AEF3-720F7B5E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57AA7-67B1-4EB9-AF7B-1F543F1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57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33A2C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A33A2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EFBD7-64A5-44E7-B054-A5421B0B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冲突标准样例</a:t>
            </a:r>
          </a:p>
          <a:p xmlns:a="http://schemas.openxmlformats.org/drawingml/2006/main">
            <a:pPr algn="l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裁决与证书门禁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857250" y="3429000"/>
          <a:ext xmlns:a="http://schemas.openxmlformats.org/drawingml/2006/main" cx="10287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bc23032bfc46be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CF693-E5C5-49BA-A352-9535F1DB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路演内容按评分权重分配展示重点，AI 能力与可观测性合计占 50%。</a:t>
            </a:r>
          </a:p>
        </p:txBody>
      </p:sp>
    </p:spTree>
    <p:extLst>
      <p:ext uri="{BB962C8B-B14F-4D97-AF65-F5344CB8AC3E}">
        <p14:creationId xmlns:p14="http://schemas.microsoft.com/office/powerpoint/2010/main" val="12785520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3F342-AD4E-418A-B650-1581017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2A58B-FB04-4AF3-B117-BB427A36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22 / 运营推广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32AE6-FEBC-454D-B48B-B93056BB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运营成本与推广路径：先可控，再扩展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5F58C-FFE8-4124-8513-57D1FAB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F90F2-143E-4B0F-B26C-7F95278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531A8-E4A0-4037-AB0D-33419BD1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D55D8-A24C-4A6A-8F8F-FF0F336A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主要成本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1F593-D0A8-4528-80FD-3938CEC1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914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模型调用费用、Embedding 建库、ES 资源、源文件解析/OCR、人工复核与 Prompt 维护。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8729D-FC37-4BF9-83E8-18BDA73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7F72B-2E2C-4F60-BA67-DA2EA0C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C21"/>
                </a:solidFill>
                <a:latin typeface="PingFang SC"/>
                <a:ea typeface="PingFang SC"/>
                <a:cs typeface="PingFang SC"/>
              </a:rPr>
              <a:t>已知限制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804FF-9054-43E2-9B62-735DBEC7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52650"/>
            <a:ext cx="2914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OCR 非确定性、ES 依赖外部服务、低证据场景必须拒答、历史投诉/库存数据目前偏演示化。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395E8-E206-427A-81A2-C0F87890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1F811-3878-45E6-A4FA-EC7F88BA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推广路径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9AEFE-4FCA-49D2-96F5-DCB32FEF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2914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先标准 RAG + 判定解释，再扩到让步风险、质保问答、冲突裁决辅助和跨厂区标准库。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01FFA-1D06-41CB-BC8C-0F72279A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通过缓存、规则模板和原始检索降低演示和生产不可用风险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B41AB-614C-4AAC-80AA-C28AC21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高风险流程保持人工审批，避免 AI 直接承担质量责任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E9941-9CDD-4385-ABAF-8BFCE5BF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→ 用评估集持续监控引用命中率、拒答率、人工采纳率和响应时间</a:t>
            </a:r>
          </a:p>
        </p:txBody>
      </p:sp>
    </p:spTree>
    <p:extLst>
      <p:ext uri="{BB962C8B-B14F-4D97-AF65-F5344CB8AC3E}">
        <p14:creationId xmlns:p14="http://schemas.microsoft.com/office/powerpoint/2010/main" val="12606986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20B2C9-741A-4219-9DB5-85351FE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D6FE5-4BA2-4DC5-8E6C-FA58B983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9C6FB-158B-4DEE-8B41-9A8A4E15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这套系统的价值不是让 AI 替人判定，而是把质量判定做成可解释、可追溯、可运营的闭环。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304FD-E4E9-4B5F-95E3-D76E32EC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CBAC4-B77E-4878-AC02-D53DDBC9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3A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33A2C"/>
                </a:solidFill>
                <a:latin typeface="PingFang SC"/>
                <a:ea typeface="PingFang SC"/>
                <a:cs typeface="PingFang SC"/>
              </a:rPr>
              <a:t>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98749-05E4-401D-82FE-233CF742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外部模型、ES、OCR 仍是运行依赖；低证据场景必须降级；真实投诉/库存集成还需继续完善。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3DC7E-E89D-4C05-A96D-494A5A6C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1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04D24-32C6-45B5-9B27-3DEE62A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26A49"/>
                </a:solidFill>
                <a:latin typeface="PingFang SC"/>
                <a:ea typeface="PingFang SC"/>
                <a:cs typeface="PingFang SC"/>
              </a:rPr>
              <a:t>启发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53AF8-AFC9-4E21-8321-703FC105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AI 落地要先确定业务真相源，再把生成能力放在解释、检索、审计和复核门禁之后。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D7051-218E-4867-B1E4-7005E61B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CE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C8726-1DCC-4CCC-B47A-453991CA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5A6F"/>
                </a:solidFill>
                <a:latin typeface="PingFang SC"/>
                <a:ea typeface="PingFang SC"/>
                <a:cs typeface="PingFang SC"/>
              </a:rPr>
              <a:t>参考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42306-FF3E-43CD-90A3-B7FE82D2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24C"/>
                </a:solidFill>
                <a:latin typeface="PingFang SC"/>
                <a:ea typeface="PingFang SC"/>
                <a:cs typeface="PingFang SC"/>
              </a:rPr>
              <a:t>OpenSpec、项目 specs、质量业务参考材料、RAG/硅基流动/OpenAI-compatible 调用文档。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5AD49-8192-4C9B-AD0E-FB9DF03E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钢铁质量管理 AI 增强路演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2745D-C6F1-4468-8619-0F528167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6075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2026-06-27T18:40:07.7530000Z</dcterms:created>
  <dcterms:modified xsi:type="dcterms:W3CDTF">2026-06-27T18:40:07.7530000Z</dcterms:modified>
</coreProperties>
</file>